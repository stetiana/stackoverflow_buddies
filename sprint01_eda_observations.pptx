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67" r:id="rId6"/>
    <p:sldId id="257" r:id="rId7"/>
    <p:sldId id="258" r:id="rId8"/>
    <p:sldId id="259" r:id="rId9"/>
    <p:sldId id="261" r:id="rId10"/>
    <p:sldId id="260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6117400" val="1230" revOS="4"/>
      <pr:smFileRevision xmlns:pr="smNativeData" xmlns="smNativeData" dt="1776117400" val="101"/>
      <pr:guideOptions xmlns:pr="smNativeData" xmlns="smNativeData" dt="1776117400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86" d="100"/>
          <a:sy n="86" d="100"/>
        </p:scale>
        <p:origin x="937" y="212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5" d="100"/>
        <a:sy n="5" d="100"/>
      </p:scale>
      <p:origin x="0" y="0"/>
    </p:cViewPr>
  </p:sorterViewPr>
  <p:notesViewPr>
    <p:cSldViewPr snapToObjects="1" showGuides="1">
      <p:cViewPr>
        <p:scale>
          <a:sx n="86" d="100"/>
          <a:sy n="86" d="100"/>
        </p:scale>
        <p:origin x="937" y="212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0D3F-71D2-9DFB-9C70-87AE433E6AD2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7D46-08D2-9D8B-9C70-FEDE333E6AAB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08FD-B3D2-9DFE-9C70-45AB463E6A10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58FF-B1D2-9DAE-9C70-47FB163E6A12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7766-28D2-9D81-9C70-DED4393E6A8B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0F73-3DD2-9DF9-9C70-CBAC413E6A9E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53CF-81D2-9DA5-9C70-77F01D3E6A22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7752-1CD2-9D81-9C70-EAD4393E6ABF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5BC9-87D2-9DAD-9C70-71F8153E6A24}" type="datetime1">
              <a:t/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57EA-A4D2-9DA1-9C70-52F4193E6A07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624E-00D2-9D94-9C70-F6C12C3E6AA3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07C8-86D2-9DF1-9C70-70A4493E6A25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23BD-F3D2-9DD5-9C70-05806D3E6A50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17D1-9FD2-9DE1-9C70-69B4593E6A3C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1919-57D2-9DEF-9C70-A1BA573E6AF4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5CC7-89D2-9DAA-9C70-7FFF123E6A2A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406D-23D2-9DB6-9C70-D5E30E3E6A80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44BA-F4D2-9DB2-9C70-02E70A3E6A57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49EB-A5D2-9DBF-9C70-53EA073E6A06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7F97-D9D2-9D89-9C70-2FDC313E6A7A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C85757-19D2-9DA1-9C70-EFF4193E6ABA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C830FE-B0D2-9DC6-9C70-46937E3E6A13}" type="slidenum">
              <a:t/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Defaul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3FC82531-7FD2-9DD3-9C70-89866B3E6ADC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FC80516-58D2-9DF3-9C70-AEA64B3E6AFB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tQ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DMBAACjCgAAwSgAAK4k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" y="1729105"/>
            <a:ext cx="6430010" cy="423354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2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VBoM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E4pAACjCgAAFEkAAB8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714490" y="1729105"/>
            <a:ext cx="5165090" cy="43053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SlideTitle1"/>
          <p:cNvSpPr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IAMAAFsBAACgRgAAYwgAABAAAAAmAAAACAAAAP//////////"/>
              </a:ext>
            </a:extLst>
          </p:cNvSpPr>
          <p:nvPr/>
        </p:nvSpPr>
        <p:spPr>
          <a:xfrm>
            <a:off x="508000" y="220345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/>
          <a:lstStyle/>
          <a:p>
            <a:pPr algn="ctr">
              <a:defRPr sz="4400" cap="none">
                <a:solidFill>
                  <a:schemeClr val="tx2"/>
                </a:solidFill>
              </a:defRPr>
            </a:pPr>
            <a:r>
              <a:t>Going in position described in the notebook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AGAABARwAAaA0AABAAAAAmAAAACAAAAAEAAAAAAAAA"/>
              </a:ext>
            </a:extLst>
          </p:cNvSpPr>
          <p:nvPr>
            <p:ph type="title"/>
          </p:nvPr>
        </p:nvSpPr>
        <p:spPr>
          <a:xfrm>
            <a:off x="609600" y="1036320"/>
            <a:ext cx="10972800" cy="1143000"/>
          </a:xfrm>
        </p:spPr>
        <p:txBody>
          <a:bodyPr/>
          <a:lstStyle/>
          <a:p>
            <a:pPr/>
            <a:r>
              <a:t>Only responses from the DACH Region included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OAw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CkBAADEEAAA1UgAANAc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" y="2725420"/>
            <a:ext cx="11650980" cy="19583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HYHAAAnRwAAfg4AABAAAAAmAAAACAAAAAEAAAAAAAAA"/>
              </a:ext>
            </a:extLst>
          </p:cNvSpPr>
          <p:nvPr>
            <p:ph type="title"/>
          </p:nvPr>
        </p:nvSpPr>
        <p:spPr>
          <a:xfrm>
            <a:off x="593725" y="1212850"/>
            <a:ext cx="10972800" cy="1143000"/>
          </a:xfrm>
        </p:spPr>
        <p:txBody>
          <a:bodyPr/>
          <a:lstStyle/>
          <a:p>
            <a:pPr/>
            <a:r>
              <a:t>Only respondants with employment included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OAw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MQBAADPEAAAvEgAAAsa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" y="2732405"/>
            <a:ext cx="11536680" cy="15011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PYGAABARwAA/g0AABAAAAAmAAAACAAAAAEAAAAAAAAA"/>
              </a:ext>
            </a:extLst>
          </p:cNvSpPr>
          <p:nvPr>
            <p:ph type="title"/>
          </p:nvPr>
        </p:nvSpPr>
        <p:spPr>
          <a:xfrm>
            <a:off x="609600" y="1131570"/>
            <a:ext cx="10972800" cy="1143000"/>
          </a:xfrm>
        </p:spPr>
        <p:txBody>
          <a:bodyPr/>
          <a:lstStyle/>
          <a:p>
            <a:pPr/>
            <a:r>
              <a:t>Only professional developers included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OAw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JUBAAC8EAAA1UgAANAX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720340"/>
            <a:ext cx="11582400" cy="11506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Nature of their development work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CQCAABjCAAA4EgAABsp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47980" y="1363345"/>
            <a:ext cx="11498580" cy="53187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Industry they are in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OAw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BMBAADUCAAA80cAACAp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74625" y="1435100"/>
            <a:ext cx="11521440" cy="52501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The highest level of education they have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VOz6Q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MQBAADxCgAAsEgAAAk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" y="1778635"/>
            <a:ext cx="11529060" cy="44043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Almost 70% of them don’t use AI agents so far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EsObq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AMCAADBCgAA40gAAOEg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27025" y="1748155"/>
            <a:ext cx="11521440" cy="35966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A long tail of outliers in terms of compensation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J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M4GAADQCQAA/kIAAPwo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" y="1595120"/>
            <a:ext cx="9784080" cy="50673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A long tail of outliers in terms of compensation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MYQAAATCgAAgjYAAD8p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726690" y="1637665"/>
            <a:ext cx="6134100" cy="50673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mGbd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DACH provides more complete responses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L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EICAAA+DQAAsCQAAPYe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" y="2152650"/>
            <a:ext cx="5596890" cy="288036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2"/>
          <p:cNvPicPr>
            <a:picLocks noChangeAspect="1"/>
            <a:extLst>
              <a:ext uri="smNativeData">
                <pr:smNativeData xmlns:pr="smNativeData" xmlns="smNativeData" val="SMDATA_17_mGbd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PYlAAA+DQAA80cAAAc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170930" y="2152650"/>
            <a:ext cx="5525135" cy="28911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1"/>
          <p:cNvSpPr txBox="1">
            <a:extLst>
              <a:ext uri="smNativeData">
                <pr:smNativeData xmlns:pr="smNativeData" xmlns="smNativeData" val="SMDATA_15_mGbdaR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PkD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kQ4AAKogAAD0FgAA3yIAAAAAAAAmAAAACAAAAP//////////"/>
              </a:ext>
            </a:extLst>
          </p:cNvSpPr>
          <p:nvPr/>
        </p:nvSpPr>
        <p:spPr>
          <a:xfrm>
            <a:off x="2367915" y="5309870"/>
            <a:ext cx="1363345" cy="358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/>
            <a:r>
              <a:t>All locations</a:t>
            </a:r>
          </a:p>
        </p:txBody>
      </p:sp>
      <p:sp>
        <p:nvSpPr>
          <p:cNvPr id="6" name="Textbox2"/>
          <p:cNvSpPr txBox="1">
            <a:extLst>
              <a:ext uri="smNativeData">
                <pr:smNativeData xmlns:pr="smNativeData" xmlns="smNativeData" val="SMDATA_15_mGbdaR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PkDAAD/fwAA/38AAAAAAAAJAAAABAAAAJ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+DQAAJ8gAABiOQAA3yIAAAAAAAAmAAAACAAAAP//////////"/>
              </a:ext>
            </a:extLst>
          </p:cNvSpPr>
          <p:nvPr/>
        </p:nvSpPr>
        <p:spPr>
          <a:xfrm>
            <a:off x="8610600" y="5302885"/>
            <a:ext cx="71755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/>
            <a:r>
              <a:t>DACH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chris</cp:lastModifiedBy>
  <cp:revision>0</cp:revision>
  <dcterms:created xsi:type="dcterms:W3CDTF">2026-04-13T20:47:42Z</dcterms:created>
  <dcterms:modified xsi:type="dcterms:W3CDTF">2026-04-13T21:56:40Z</dcterms:modified>
</cp:coreProperties>
</file>