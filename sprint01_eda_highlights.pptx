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sldIdLst>
    <p:sldId id="257" r:id="rId6"/>
    <p:sldId id="258" r:id="rId7"/>
  </p:sldIdLst>
  <p:sldSz cx="12192000" cy="6858000"/>
  <p:notesSz cx="6858000" cy="12192000"/>
  <p:defaultTextStyle>
    <a:lvl1pPr marL="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1pPr>
    <a:lvl2pPr marL="457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2pPr>
    <a:lvl3pPr marL="914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3pPr>
    <a:lvl4pPr marL="1371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4pPr>
    <a:lvl5pPr marL="18288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5pPr>
    <a:lvl6pPr marL="22860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6pPr>
    <a:lvl7pPr marL="2743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7pPr>
    <a:lvl8pPr marL="3200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8pPr>
    <a:lvl9pPr marL="3657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76152347" val="1230" revOS="4"/>
      <pr:smFileRevision xmlns:pr="smNativeData" xmlns="smNativeData" dt="1776152347" val="101"/>
      <pr:guideOptions xmlns:pr="smNativeData" xmlns="smNativeData" dt="1776152347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Objects="1" showGuides="1">
      <p:cViewPr varScale="1">
        <p:scale>
          <a:sx n="86" d="100"/>
          <a:sy n="86" d="100"/>
        </p:scale>
        <p:origin x="937" y="212"/>
      </p:cViewPr>
      <p:guideLst x="0" y="0"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5" d="100"/>
        <a:sy n="5" d="100"/>
      </p:scale>
      <p:origin x="0" y="0"/>
    </p:cViewPr>
  </p:sorterViewPr>
  <p:notesViewPr>
    <p:cSldViewPr snapToObjects="1" showGuides="1">
      <p:cViewPr>
        <p:scale>
          <a:sx n="86" d="100"/>
          <a:sy n="86" d="100"/>
        </p:scale>
        <p:origin x="937" y="212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UAABoNAABgRQAAJhYAABAAAAAmAAAACAAAAAEAAAAAAAAA"/>
              </a:ext>
            </a:extLst>
          </p:cNvSpPr>
          <p:nvPr>
            <p:ph type="ctrTitle"/>
          </p:nvPr>
        </p:nvSpPr>
        <p:spPr>
          <a:xfrm>
            <a:off x="914400" y="2129790"/>
            <a:ext cx="10363200" cy="1470660"/>
          </a:xfr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AsAAOgXAADAPwAAsCIAABAAAAAmAAAACAAAAAGAAAAAAAAA"/>
              </a:ext>
            </a:extLst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/>
            <a:r>
              <a:t>Click to edit Master subtitle style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5D092A-64D2-08FF-9CE5-92AA47AB6AC7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5D1F63-2DD2-08E9-9CE5-DBBC51AB6A8E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5D028B-C5D2-08F4-9CE5-33A14CAB6A66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5D78D5-9BD2-088E-9CE5-6DDB36AB6A38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BwbAACtRQAAfSMAABAAAAAmAAAACAAAAIGAAAAAAAAA"/>
              </a:ext>
            </a:extLst>
          </p:cNvSpPr>
          <p:nvPr>
            <p:ph type="title"/>
          </p:nvPr>
        </p:nvSpPr>
        <p:spPr>
          <a:xfrm>
            <a:off x="963295" y="4406900"/>
            <a:ext cx="10363200" cy="1362075"/>
          </a:xfrm>
        </p:spPr>
        <p:txBody>
          <a:bodyPr vert="horz" wrap="square" numCol="1" spcCol="215900" anchor="t">
            <a:prstTxWarp prst="textNoShape">
              <a:avLst/>
            </a:prstTxWarp>
          </a:bodyPr>
          <a:lstStyle>
            <a:lvl1pPr algn="l">
              <a:defRPr sz="4000" b="1" cap="all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OERAACtRQAAHBsAABAAAAAmAAAACAAAAIGAAAAAAAAA"/>
              </a:ext>
            </a:extLst>
          </p:cNvSpPr>
          <p:nvPr>
            <p:ph idx="1"/>
          </p:nvPr>
        </p:nvSpPr>
        <p:spPr>
          <a:xfrm>
            <a:off x="963295" y="2906395"/>
            <a:ext cx="10363200" cy="1500505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000" cap="none"/>
            </a:lvl1pPr>
            <a:lvl2pPr marL="457200" indent="0">
              <a:buNone/>
              <a:defRPr sz="1800" cap="none"/>
            </a:lvl2pPr>
            <a:lvl3pPr marL="914400" indent="0">
              <a:buNone/>
              <a:defRPr sz="1600" cap="none"/>
            </a:lvl3pPr>
            <a:lvl4pPr marL="1371600" indent="0">
              <a:buNone/>
              <a:defRPr sz="1400" cap="none"/>
            </a:lvl4pPr>
            <a:lvl5pPr marL="1828800" indent="0">
              <a:buNone/>
              <a:defRPr sz="1400" cap="none"/>
            </a:lvl5pPr>
            <a:lvl6pPr marL="2286000" indent="0">
              <a:buNone/>
              <a:defRPr sz="1400" cap="none"/>
            </a:lvl6pPr>
            <a:lvl7pPr marL="2743200" indent="0">
              <a:buNone/>
              <a:defRPr sz="1400" cap="none"/>
            </a:lvl7pPr>
            <a:lvl8pPr marL="3200400" indent="0">
              <a:buNone/>
              <a:defRPr sz="1400" cap="none"/>
            </a:lvl8pPr>
            <a:lvl9pPr marL="3657600" indent="0">
              <a:buNone/>
              <a:defRPr sz="14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5D264C-02D2-08D0-9CE5-F48568AB6AA1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5D5B3F-71D2-08AD-9CE5-87F815AB6AD2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ColTx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DhJAAAsCUAABAAAAAmAAAACAAAAAGAAAAAAAAA"/>
              </a:ext>
            </a:extLst>
          </p:cNvSpPr>
          <p:nvPr>
            <p:ph idx="1"/>
          </p:nvPr>
        </p:nvSpPr>
        <p:spPr>
          <a:xfrm>
            <a:off x="609600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yYAANgJAABARwAAsCUAABAAAAAmAAAACAAAAAGAAAAAAAAA"/>
              </a:ext>
            </a:extLst>
          </p:cNvSpPr>
          <p:nvPr>
            <p:ph idx="2"/>
          </p:nvPr>
        </p:nvSpPr>
        <p:spPr>
          <a:xfrm>
            <a:off x="6196965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5D302B-65D2-08C6-9CE5-93937EAB6AC6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5D7E66-28D2-0888-9CE5-DEDD30AB6A8B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3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HEJAADjJAAAYQ0AABAAAAAmAAAACAAAAIGAAAAAAAAA"/>
              </a:ext>
            </a:extLst>
          </p:cNvSpPr>
          <p:nvPr>
            <p:ph idx="1"/>
          </p:nvPr>
        </p:nvSpPr>
        <p:spPr>
          <a:xfrm>
            <a:off x="609600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GENAADjJAAAsCUAABAAAAAmAAAACAAAAAGAAAAAAAAA"/>
              </a:ext>
            </a:extLst>
          </p:cNvSpPr>
          <p:nvPr>
            <p:ph idx="2"/>
          </p:nvPr>
        </p:nvSpPr>
        <p:spPr>
          <a:xfrm>
            <a:off x="609600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SlideText2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HEJAABARwAAYQ0AABAAAAAmAAAACAAAAIGAAAAAAAAA"/>
              </a:ext>
            </a:extLst>
          </p:cNvSpPr>
          <p:nvPr>
            <p:ph idx="3"/>
          </p:nvPr>
        </p:nvSpPr>
        <p:spPr>
          <a:xfrm>
            <a:off x="6195695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6" name="SlideText4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GENAABARwAAsCUAABAAAAAmAAAACAAAAAGAAAAAAAAA"/>
              </a:ext>
            </a:extLst>
          </p:cNvSpPr>
          <p:nvPr>
            <p:ph idx="4"/>
          </p:nvPr>
        </p:nvSpPr>
        <p:spPr>
          <a:xfrm>
            <a:off x="6195695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Time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5D1B4C-02D2-08ED-9CE5-F4B855AB6AA1}" type="datetime1">
              <a:t/>
            </a:fld>
          </a:p>
        </p:txBody>
      </p:sp>
      <p:sp>
        <p:nvSpPr>
          <p:cNvPr id="8" name="Foot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9" name="SlideNumb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5D77A7-E9D2-0881-9CE5-1FD439AB6A4A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DateTime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5D7DD8-96D2-088B-9CE5-60DE33AB6A35}" type="datetime1">
              <a:t/>
            </a:fld>
          </a:p>
        </p:txBody>
      </p:sp>
      <p:sp>
        <p:nvSpPr>
          <p:cNvPr id="4" name="Foot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5" name="SlideNumb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5D170C-42D2-08E1-9CE5-B4B459AB6AE1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Time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5D3328-66D2-08C5-9CE5-90907DAB6AC5}" type="datetime1">
              <a:t/>
            </a:fld>
          </a:p>
        </p:txBody>
      </p:sp>
      <p:sp>
        <p:nvSpPr>
          <p:cNvPr id="3" name="Foot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4" name="SlideNumb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5D035D-13D2-08F5-9CE5-E5A04DAB6AB0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4BAABtHAAA1AgAABAAAAAmAAAACAAAAIGAAAAAAAAA"/>
              </a:ext>
            </a:extLst>
          </p:cNvSpPr>
          <p:nvPr>
            <p:ph type="title"/>
          </p:nvPr>
        </p:nvSpPr>
        <p:spPr>
          <a:xfrm>
            <a:off x="609600" y="273050"/>
            <a:ext cx="4011295" cy="116205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0AAK4BAABARwAAsCUAABAAAAAmAAAACAAAAAGAAAAAAAAA"/>
              </a:ext>
            </a:extLst>
          </p:cNvSpPr>
          <p:nvPr>
            <p:ph idx="1"/>
          </p:nvPr>
        </p:nvSpPr>
        <p:spPr>
          <a:xfrm>
            <a:off x="4766945" y="273050"/>
            <a:ext cx="6815455" cy="5853430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QIAABtHAAAsCUAABAAAAAmAAAACAAAAAGAAAAAAAAA"/>
              </a:ext>
            </a:extLst>
          </p:cNvSpPr>
          <p:nvPr>
            <p:ph idx="2"/>
          </p:nvPr>
        </p:nvSpPr>
        <p:spPr>
          <a:xfrm>
            <a:off x="609600" y="1435100"/>
            <a:ext cx="4011295" cy="46913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5D651E-50D2-0893-9CE5-A6C62BAB6AF3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NwY0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5D7C7E-30D2-088A-9CE5-C6DF32AB6A93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IgdAACzOwAABCEAABAAAAAmAAAACAAAAIGAAAAAAAAA"/>
              </a:ext>
            </a:extLst>
          </p:cNvSpPr>
          <p:nvPr>
            <p:ph type="title"/>
          </p:nvPr>
        </p:nvSpPr>
        <p:spPr>
          <a:xfrm>
            <a:off x="2389505" y="4800600"/>
            <a:ext cx="7315200" cy="56642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MYDAACzOwAAFh0AABAAAAAmAAAACAAAAAGAAAAAAAAA"/>
              </a:ext>
            </a:extLst>
          </p:cNvSpPr>
          <p:nvPr>
            <p:ph idx="1"/>
          </p:nvPr>
        </p:nvSpPr>
        <p:spPr>
          <a:xfrm>
            <a:off x="2389505" y="613410"/>
            <a:ext cx="7315200" cy="4114800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AQhAACzOwAA+CUAABAAAAAmAAAACAAAAAGAAAAAAAAA"/>
              </a:ext>
            </a:extLst>
          </p:cNvSpPr>
          <p:nvPr>
            <p:ph idx="2"/>
          </p:nvPr>
        </p:nvSpPr>
        <p:spPr>
          <a:xfrm>
            <a:off x="2389505" y="5367020"/>
            <a:ext cx="7315200" cy="8051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5D44DA-94D2-08B2-9CE5-62E70AAB6A37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5D1183-CDD2-08E7-9CE5-3BB25FAB6A6E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49Ij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IAAAAAAAAA"/>
              </a:ext>
            </a:extLst>
          </p:cNvSpPr>
          <p:nvPr>
            <p:ph idx="1"/>
          </p:nvPr>
        </p:nvSpPr>
        <p:spPr/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5D1D1F-51D2-08EB-9CE5-A7BE53AB6AF2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E6c3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5D23C1-8FD2-08D5-9CE5-79806DAB6A2C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C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DYAALABAABARwAAsCUAABAAAAAmAAAACAAAAIMAAAAAAAAA"/>
              </a:ext>
            </a:extLst>
          </p:cNvSpPr>
          <p:nvPr>
            <p:ph type="title"/>
          </p:nvPr>
        </p:nvSpPr>
        <p:spPr>
          <a:xfrm>
            <a:off x="8839200" y="274320"/>
            <a:ext cx="2743200" cy="5852160"/>
          </a:xfrm>
        </p:spPr>
        <p:txBody>
          <a:bodyPr vert="vert" wrap="square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AfNQAAsCUAABAAAAAmAAAACAAAAAMAAAAAAAAA"/>
              </a:ext>
            </a:extLst>
          </p:cNvSpPr>
          <p:nvPr>
            <p:ph idx="1"/>
          </p:nvPr>
        </p:nvSpPr>
        <p:spPr>
          <a:xfrm>
            <a:off x="609600" y="274320"/>
            <a:ext cx="8025765" cy="5852160"/>
          </a:xfrm>
        </p:spPr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5D3D2D-63D2-08CB-9CE5-959E73AB6AC0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5D37E1-AFD2-08C1-9CE5-599479AB6A0C}" type="slidenum">
              <a:t/>
            </a:fld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 name="Default desig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P//////////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P//////////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P//////////"/>
              </a:ext>
            </a:extLst>
          </p:cNvSpPr>
          <p:nvPr>
            <p:ph type="dt" sz="quarter" idx="2"/>
          </p:nvPr>
        </p:nvSpPr>
        <p:spPr>
          <a:xfrm>
            <a:off x="609600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  <a:fld id="{3F5D3648-06D2-08C0-9CE5-F09578AB6AA5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P//////////"/>
              </a:ext>
            </a:extLst>
          </p:cNvSpPr>
          <p:nvPr>
            <p:ph type="ftr" sz="quarter" idx="3"/>
          </p:nvPr>
        </p:nvSpPr>
        <p:spPr>
          <a:xfrm>
            <a:off x="4166235" y="6356985"/>
            <a:ext cx="385953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ctr">
              <a:defRPr sz="1200" cap="none"/>
            </a:lvl1pPr>
          </a:lstStyle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P//////////"/>
              </a:ext>
            </a:extLst>
          </p:cNvSpPr>
          <p:nvPr>
            <p:ph type="sldNum" sz="quarter" idx="4"/>
          </p:nvPr>
        </p:nvSpPr>
        <p:spPr>
          <a:xfrm>
            <a:off x="8738235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3F5D661E-50D2-0890-9CE5-A6C528AB6AF3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titleStyle>
    <p:bodyStyle>
      <a:lvl1pPr marL="342900" marR="0" indent="-3429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742950" marR="0" indent="-28575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1143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600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20574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5146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9718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429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886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bodyStyle>
    <p:otherStyle>
      <a:lvl1pPr marL="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EDA Highlights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G+/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AAAAAAmAAAACAAAAAEAAAAAAAAA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</p:spPr>
        <p:txBody>
          <a:bodyPr/>
          <a:lstStyle/>
          <a:p>
            <a:pPr>
              <a:defRPr sz="2800" cap="none"/>
            </a:pPr>
            <a:r>
              <a:t>DACH responses are more complete compared with others.</a:t>
            </a:r>
          </a:p>
          <a:p>
            <a:pPr>
              <a:defRPr sz="2800" cap="none"/>
            </a:pPr>
          </a:p>
          <a:p>
            <a:pPr>
              <a:defRPr sz="2800" cap="none"/>
            </a:pPr>
            <a:r>
              <a:t>40% of professional developers have a master’s degree.</a:t>
            </a:r>
          </a:p>
          <a:p>
            <a:pPr>
              <a:defRPr sz="2800" cap="none"/>
            </a:pPr>
          </a:p>
          <a:p>
            <a:pPr>
              <a:defRPr sz="2800" cap="none"/>
            </a:pPr>
            <a:r>
              <a:t>Close to 40% are full stack developers, with another 15%+ on backend.</a:t>
            </a:r>
          </a:p>
          <a:p>
            <a:pPr>
              <a:defRPr sz="2800" cap="none"/>
            </a:pPr>
          </a:p>
          <a:p>
            <a:pPr>
              <a:defRPr sz="2800" cap="none"/>
            </a:pPr>
            <a:r>
              <a:t>Around 70% of them did </a:t>
            </a:r>
            <a:r>
              <a:rPr u="sng"/>
              <a:t>not</a:t>
            </a:r>
            <a:r>
              <a:t> use AI Agent.</a:t>
            </a:r>
          </a:p>
          <a:p>
            <a:pPr>
              <a:defRPr sz="2800" cap="none"/>
            </a:pPr>
          </a:p>
          <a:p>
            <a:pPr>
              <a:defRPr sz="2800" cap="none"/>
            </a:pPr>
            <a:r>
              <a:t>Factors found to have strong correlation with compensation in the complete data set do </a:t>
            </a:r>
            <a:r>
              <a:rPr u="sng"/>
              <a:t>not</a:t>
            </a:r>
            <a:r>
              <a:t> have such correlation in DACH - other than those related to work and coding experience.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G+/d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mOlJE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IQCAAA1AgAANDMAAPsn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408940" y="358775"/>
            <a:ext cx="7914640" cy="61404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1"/>
          <p:cNvSpPr txBox="1">
            <a:extLst>
              <a:ext uri="smNativeData">
                <pr:smNativeData xmlns:pr="smNativeData" xmlns="smNativeData" val="SMDATA_15_G+/daRMAAAAlAAAAEgAAAE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PkDAAD/fwAA/38AAAAAAAAJAAAABAAAALA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+DQAAEAhAABaSAAA4CYAAAAgAAAmAAAACAAAAP//////////"/>
              </a:ext>
            </a:extLst>
          </p:cNvSpPr>
          <p:nvPr/>
        </p:nvSpPr>
        <p:spPr>
          <a:xfrm>
            <a:off x="8610600" y="5405120"/>
            <a:ext cx="315087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/>
            <a:r>
              <a:t>Correlations Heatmap:</a:t>
            </a:r>
          </a:p>
          <a:p>
            <a:pPr/>
            <a:r>
              <a:t>DACH Professional Developers with Active Employment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009999"/>
      </a:hlink>
      <a:folHlink>
        <a:srgbClr val="99CC00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DF7986"/>
        </a:accent3>
        <a:accent4>
          <a:srgbClr val="BF59A6"/>
        </a:accent4>
        <a:accent5>
          <a:srgbClr val="9F39C6"/>
        </a:accent5>
        <a:accent6>
          <a:srgbClr val="7F19E6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ACACDF"/>
        </a:accent3>
        <a:accent4>
          <a:srgbClr val="9C9CBF"/>
        </a:accent4>
        <a:accent5>
          <a:srgbClr val="7C7C9F"/>
        </a:accent5>
        <a:accent6>
          <a:srgbClr val="5C5C7F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6DA6DF"/>
        </a:accent3>
        <a:accent4>
          <a:srgbClr val="4D86BF"/>
        </a:accent4>
        <a:accent5>
          <a:srgbClr val="2D669F"/>
        </a:accent5>
        <a:accent6>
          <a:srgbClr val="0D467F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53ACAC"/>
        </a:accent3>
        <a:accent4>
          <a:srgbClr val="738C8C"/>
        </a:accent4>
        <a:accent5>
          <a:srgbClr val="936C6C"/>
        </a:accent5>
        <a:accent6>
          <a:srgbClr val="B34C4C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6D8FA7"/>
        </a:accent3>
        <a:accent4>
          <a:srgbClr val="8DAF87"/>
        </a:accent4>
        <a:accent5>
          <a:srgbClr val="ADCF67"/>
        </a:accent5>
        <a:accent6>
          <a:srgbClr val="CDEF47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9E9980"/>
        </a:accent3>
        <a:accent4>
          <a:srgbClr val="7EB9A0"/>
        </a:accent4>
        <a:accent5>
          <a:srgbClr val="5EC9C0"/>
        </a:accent5>
        <a:accent6>
          <a:srgbClr val="3EE9E0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209020"/>
        </a:accent3>
        <a:accent4>
          <a:srgbClr val="407040"/>
        </a:accent4>
        <a:accent5>
          <a:srgbClr val="605060"/>
        </a:accent5>
        <a:accent6>
          <a:srgbClr val="80308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666A6B"/>
        </a:accent3>
        <a:accent4>
          <a:srgbClr val="864A8B"/>
        </a:accent4>
        <a:accent5>
          <a:srgbClr val="A62AAB"/>
        </a:accent5>
        <a:accent6>
          <a:srgbClr val="C60ACB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A07E88"/>
        </a:accent3>
        <a:accent4>
          <a:srgbClr val="C05E68"/>
        </a:accent4>
        <a:accent5>
          <a:srgbClr val="E03E48"/>
        </a:accent5>
        <a:accent6>
          <a:srgbClr val="FF1E28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8686DF"/>
        </a:accent3>
        <a:accent4>
          <a:srgbClr val="A6A6BF"/>
        </a:accent4>
        <a:accent5>
          <a:srgbClr val="C6C69F"/>
        </a:accent5>
        <a:accent6>
          <a:srgbClr val="E6E67F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8F7F4F"/>
        </a:accent3>
        <a:accent4>
          <a:srgbClr val="6F9F6F"/>
        </a:accent4>
        <a:accent5>
          <a:srgbClr val="4FBF8F"/>
        </a:accent5>
        <a:accent6>
          <a:srgbClr val="2FDFAF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chris</cp:lastModifiedBy>
  <cp:revision>0</cp:revision>
  <dcterms:created xsi:type="dcterms:W3CDTF">2026-04-14T06:56:50Z</dcterms:created>
  <dcterms:modified xsi:type="dcterms:W3CDTF">2026-04-14T07:39:07Z</dcterms:modified>
</cp:coreProperties>
</file>