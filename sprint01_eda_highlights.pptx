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7" r:id="rId6"/>
    <p:sldId id="259" r:id="rId7"/>
    <p:sldId id="258" r:id="rId8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76156746" val="1230" revOS="4"/>
      <pr:smFileRevision xmlns:pr="smNativeData" xmlns="smNativeData" dt="1776156746" val="101"/>
      <pr:guideOptions xmlns:pr="smNativeData" xmlns="smNativeData" dt="1776156746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 varScale="1">
        <p:scale>
          <a:sx n="86" d="100"/>
          <a:sy n="86" d="100"/>
        </p:scale>
        <p:origin x="937" y="212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5" d="100"/>
        <a:sy n="5" d="100"/>
      </p:scale>
      <p:origin x="0" y="0"/>
    </p:cViewPr>
  </p:sorterViewPr>
  <p:notesViewPr>
    <p:cSldViewPr snapToObjects="1" showGuides="1">
      <p:cViewPr>
        <p:scale>
          <a:sx n="86" d="100"/>
          <a:sy n="86" d="100"/>
        </p:scale>
        <p:origin x="937" y="212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6264-2AD2-4594-9CA8-DCC12CE66A89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1B06-48D2-45ED-9CA8-BEB855E66AEB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408A-C4D2-45B6-9CA8-32E30EE66A67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4C56-18D2-45BA-9CA8-EEEF02E66ABB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A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A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37B6-F8D2-45C1-9CA8-0E9479E66A5B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5D39-77D2-45AB-9CA8-81FE13E66AD4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3328-66D2-45C5-9CA8-90907DE66AC5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586F-21D2-45AE-9CA8-D7FB16E66A82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A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A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2E63-2DD2-45D8-9CA8-DB8D60E66A8E}" type="datetime1">
              <a:t/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7328-66D2-4585-9CA8-90D03DE66AC5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2563-2DD2-45D3-9CA8-DB866BE66A8E}" type="datetime1">
              <a:t/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0571-3FD2-45F3-9CA8-C9A64BE66A9C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4CFF-B1D2-45BA-9CA8-47EF02E66A12}" type="datetime1">
              <a:t/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4CEE-A0D2-45BA-9CA8-56EF02E66A03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A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2C58-16D2-45DA-9CA8-E08F62E66AB5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NwY0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5120-6ED2-45A7-9CA8-98F21FE66ACD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A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460B-45D2-45B0-9CA8-B3E508E66AE6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1C77-39D2-45EA-9CA8-CFBF52E66A9A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49Ij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AAAAAAAAA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5D0E-40D2-45AB-9CA8-B6FE13E66AE3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E6c3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4274-3AD2-45B4-9CA8-CCE10CE66A99}" type="slidenum">
              <a:t/>
            </a:fld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A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A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F106B24-6AD2-459D-9CA8-9CC825E66AC9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F104B83-CDD2-45BD-9CA8-3BE805E66A6E}" type="slidenum">
              <a:t/>
            </a:fld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P//////////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P//////////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P//////////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3F103F2C-62D2-45C9-9CA8-949C71E66AC1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P//////////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P//////////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3F105F27-69D2-45A9-9CA8-9FFC11E66ACA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EDA Highlights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SgDe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pPr>
              <a:defRPr sz="2800" cap="none"/>
            </a:pPr>
            <a:r>
              <a:t>DACH responses are more complete compared with others.</a:t>
            </a:r>
          </a:p>
          <a:p>
            <a:pPr>
              <a:defRPr sz="2800" cap="none"/>
            </a:pPr>
          </a:p>
          <a:p>
            <a:pPr>
              <a:defRPr sz="2800" cap="none"/>
            </a:pPr>
            <a:r>
              <a:t>40% of professional developers in DACH have a master’s degree.</a:t>
            </a:r>
          </a:p>
          <a:p>
            <a:pPr>
              <a:defRPr sz="2800" cap="none"/>
            </a:pPr>
          </a:p>
          <a:p>
            <a:pPr>
              <a:defRPr sz="2800" cap="none"/>
            </a:pPr>
            <a:r>
              <a:t>Close to 40% are full stack developers, with another 15%+ on backend.</a:t>
            </a:r>
          </a:p>
          <a:p>
            <a:pPr>
              <a:defRPr sz="2800" cap="none"/>
            </a:pPr>
          </a:p>
          <a:p>
            <a:pPr>
              <a:defRPr sz="2800" cap="none"/>
            </a:pPr>
            <a:r>
              <a:t>Around 70% of them did </a:t>
            </a:r>
            <a:r>
              <a:rPr u="sng"/>
              <a:t>not</a:t>
            </a:r>
            <a:r>
              <a:t> use AI Agent.</a:t>
            </a:r>
          </a:p>
          <a:p>
            <a:pPr>
              <a:defRPr sz="2800" cap="none"/>
            </a:pPr>
          </a:p>
          <a:p>
            <a:pPr>
              <a:defRPr sz="2800" cap="none"/>
            </a:pPr>
            <a:r>
              <a:t>Factors found to have strong correlation with compensation in the complete data set do </a:t>
            </a:r>
            <a:r>
              <a:rPr u="sng"/>
              <a:t>not</a:t>
            </a:r>
            <a:r>
              <a:t> have such correlation in DACH.  Only work and coding experience appear to have high correlation there.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1"/>
          <p:cNvPicPr>
            <a:picLocks noChangeAspect="1"/>
            <a:extLst>
              <a:ext uri="smNativeData">
                <pr:smNativeData xmlns:pr="smNativeData" xmlns="smNativeData" val="SMDATA_17_SgDe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7AAB7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LUAAAC1AAAAVUgAAKEjAAAA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114935" y="114935"/>
            <a:ext cx="11643360" cy="56769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1"/>
          <p:cNvSpPr txBox="1">
            <a:extLst>
              <a:ext uri="smNativeData">
                <pr:smNativeData xmlns:pr="smNativeData" xmlns="smNativeData" val="SMDATA_15_SgDeaRMAAAAlAAAAE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NxcAAEYlAACIMgAAuicAAAAAAAAmAAAACAAAAP//////////"/>
              </a:ext>
            </a:extLst>
          </p:cNvSpPr>
          <p:nvPr/>
        </p:nvSpPr>
        <p:spPr>
          <a:xfrm>
            <a:off x="3773805" y="6059170"/>
            <a:ext cx="4440555" cy="3987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Correlation over the entire, original data set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1"/>
          <p:cNvPicPr>
            <a:picLocks noChangeAspect="1"/>
            <a:extLst>
              <a:ext uri="smNativeData">
                <pr:smNativeData xmlns:pr="smNativeData" xmlns="smNativeData" val="SMDATA_17_SgDe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mOlJE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IQCAAA1AgAANDMAAPsn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" y="358775"/>
            <a:ext cx="7914640" cy="61404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1"/>
          <p:cNvSpPr txBox="1">
            <a:extLst>
              <a:ext uri="smNativeData">
                <pr:smNativeData xmlns:pr="smNativeData" xmlns="smNativeData" val="SMDATA_15_SgDe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PkDAAD/fwAA/38AAAAAAAAJAAAABAAAALA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+DQAAEAhAABaSAAA4CYAAAAgAAAmAAAACAAAAP//////////"/>
              </a:ext>
            </a:extLst>
          </p:cNvSpPr>
          <p:nvPr/>
        </p:nvSpPr>
        <p:spPr>
          <a:xfrm>
            <a:off x="8610600" y="5405120"/>
            <a:ext cx="3150870" cy="914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/>
            <a:r>
              <a:t>Correlations Heatmap: </a:t>
            </a:r>
          </a:p>
          <a:p>
            <a:pPr/>
            <a:r>
              <a:t>DACH Professional Developers with Active Employment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chris</cp:lastModifiedBy>
  <cp:revision>0</cp:revision>
  <dcterms:created xsi:type="dcterms:W3CDTF">2026-04-14T06:56:50Z</dcterms:created>
  <dcterms:modified xsi:type="dcterms:W3CDTF">2026-04-14T08:52:26Z</dcterms:modified>
</cp:coreProperties>
</file>